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quifer_cover_17869084121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457200"/>
            <a:ext cx="7589520" cy="59436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371600"/>
            <a:ext cx="594360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GROUNDWATER INTELLIGENCE PLATFORM</a:t>
            </a:r>
          </a:p>
          <a:p>
            <a:br/>
            <a:pPr>
              <a:defRPr sz="1500">
                <a:solidFill>
                  <a:srgbClr val="00F0FF"/>
                </a:solidFill>
              </a:defRPr>
            </a:pPr>
            <a:r>
              <a:t>A Data-Driven System for Groundwater Monitoring, Spatial Mapping &amp; Predictive Decision Support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Core Narrative Architecture:</a:t>
            </a:r>
            <a:br/>
            <a:r>
              <a:t>SENSE → INTEGRATE → MAP → ANALYZE → PREDICT → DECIDE</a:t>
            </a:r>
          </a:p>
          <a:p>
            <a:br/>
            <a:pPr>
              <a:defRPr sz="1100">
                <a:solidFill>
                  <a:srgbClr val="10B981"/>
                </a:solidFill>
              </a:defRPr>
            </a:pPr>
            <a:r>
              <a:t>Powered by Hardware Telemetry, GIS, Remote Sensing &amp; AI/ML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egoe UI"/>
              </a:defRPr>
            </a:pPr>
            <a:r>
              <a:t>02  // GROUNDWATER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GROUNDWATER IS INVISIBLE — ITS IMPACT ISN'T.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Critical global challenges facing groundwater monitoring and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01 / AQUIFER DEPLETION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8FAFC"/>
                </a:solidFill>
              </a:defRPr>
            </a:pPr>
            <a:r>
              <a:t>Unseen Reserve Over-extraction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Rapid decline in water table levels across agricultural &amp; urban zones.</a:t>
            </a:r>
            <a:br/>
            <a:r>
              <a:t>• Severe lag in traditional manual well measurements.</a:t>
            </a:r>
            <a:br/>
            <a:r>
              <a:t>• Subsidence &amp; irreversible storage capacity destruction.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02 / WATER QUALITY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8FAFC"/>
                </a:solidFill>
              </a:defRPr>
            </a:pPr>
            <a:r>
              <a:t>Silent Contamination &amp; Salinization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Rising Electrical Conductivity (EC) &amp; Turbidity levels.</a:t>
            </a:r>
            <a:br/>
            <a:r>
              <a:t>• pH spikes endangering drinking water &amp; crop yield.</a:t>
            </a:r>
            <a:br/>
            <a:r>
              <a:t>• Lack of continuous continuous temporal contamination tracking.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03 / BLIND DECISION MAKING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8FAFC"/>
                </a:solidFill>
              </a:defRPr>
            </a:pPr>
            <a:r>
              <a:t>Reactive Management Failure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Policy interventions arrive after wells run dry.</a:t>
            </a:r>
            <a:br/>
            <a:r>
              <a:t>• Inability to model future stress under climate variability.</a:t>
            </a:r>
            <a:br/>
            <a:r>
              <a:t>• Absence of centralized spatial intelligence.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egoe UI"/>
              </a:defRPr>
            </a:pPr>
            <a:r>
              <a:t>03  // GROUNDWATER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THE DATA EXISTS. THE CONNECTION DOESN'T.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Groundwater data is trapped in isolated, incompatible silos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011680" cy="2926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SILO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FAFC"/>
                </a:solidFill>
              </a:defRPr>
            </a:pPr>
            <a:r>
              <a:t>Physical Sensors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Local well depth &amp; water metrics</a:t>
            </a:r>
            <a:br/>
            <a:br/>
            <a:r>
              <a:t>[ Isolated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828800"/>
            <a:ext cx="2011680" cy="2926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SILO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3774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FAFC"/>
                </a:solidFill>
              </a:defRPr>
            </a:pPr>
            <a:r>
              <a:t>Satellite / Remote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Soil moisture &amp; GRACE gravity data</a:t>
            </a:r>
            <a:br/>
            <a:br/>
            <a:r>
              <a:t>[ Isolated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828800"/>
            <a:ext cx="2011680" cy="2926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SILO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3774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FAFC"/>
                </a:solidFill>
              </a:defRPr>
            </a:pPr>
            <a:r>
              <a:t>Rainfall Data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Meteorological precipitation logs</a:t>
            </a:r>
            <a:br/>
            <a:br/>
            <a:r>
              <a:t>[ Isolated 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199" y="1828800"/>
            <a:ext cx="2011680" cy="2926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SILO 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59" y="23774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FAFC"/>
                </a:solidFill>
              </a:defRPr>
            </a:pPr>
            <a:r>
              <a:t>Soil &amp; Terrain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Infiltration &amp; geological GIS layers</a:t>
            </a:r>
            <a:br/>
            <a:br/>
            <a:r>
              <a:t>[ Isolated 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1828800"/>
            <a:ext cx="2011680" cy="2926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SILO 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23774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FAFC"/>
                </a:solidFill>
              </a:defRPr>
            </a:pPr>
            <a:r>
              <a:t>Historical Logs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Legacy paper records &amp; state reports</a:t>
            </a:r>
            <a:br/>
            <a:br/>
            <a:r>
              <a:t>[ Isolated 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166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THE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Without unification, decision-makers get partial views, delayed warnings, and fragmented policy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egoe UI"/>
              </a:defRPr>
            </a:pPr>
            <a:r>
              <a:t>04  // GROUNDWATER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ONE PLATFORM. MULTIPLE DATA SOURCES. ONE GROUNDWATER VIEW.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Fusing physical telemetry with spatial environmental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UNIFIED PLATFORM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200">
                <a:solidFill>
                  <a:srgbClr val="00F0FF"/>
                </a:solidFill>
              </a:defRPr>
            </a:pPr>
            <a:r>
              <a:t>• Ground-Truth Telemetry: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Real-time observations from physical IoT nodes (Raspberry Pi 3B+ &amp; ESP32).</a:t>
            </a:r>
            <a:br/>
          </a:p>
          <a:p>
            <a:pPr>
              <a:defRPr b="1" sz="1200">
                <a:solidFill>
                  <a:srgbClr val="00F0FF"/>
                </a:solidFill>
              </a:defRPr>
            </a:pPr>
            <a:r>
              <a:t>• Remote Sensing Integration: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Broad spatial coverage extending context beyond physical sensor sites.</a:t>
            </a:r>
            <a:br/>
          </a:p>
          <a:p>
            <a:pPr>
              <a:defRPr b="1" sz="1200">
                <a:solidFill>
                  <a:srgbClr val="00F0FF"/>
                </a:solidFill>
              </a:defRPr>
            </a:pPr>
            <a:r>
              <a:t>• GIS Layer Fusion: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Topography, slope, land cover, and soil characteristics mapped seamlessly.</a:t>
            </a:r>
            <a:br/>
          </a:p>
          <a:p>
            <a:pPr>
              <a:defRPr b="1" sz="1200">
                <a:solidFill>
                  <a:srgbClr val="00F0FF"/>
                </a:solidFill>
              </a:defRPr>
            </a:pPr>
            <a:r>
              <a:t>• Centralized Data Engine: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Single source of truth feeding spatial analytics and predictive intelligence.</a:t>
            </a:r>
            <a:br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THE CORE VALUE NARRATIVE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300">
                <a:solidFill>
                  <a:srgbClr val="F8FAFC"/>
                </a:solidFill>
              </a:defRPr>
            </a:pPr>
            <a:r>
              <a:t>1. SENSE  → Real-time physical sensor data collection</a:t>
            </a:r>
          </a:p>
          <a:p/>
          <a:p>
            <a:pPr>
              <a:defRPr b="1" sz="1300">
                <a:solidFill>
                  <a:srgbClr val="F8FAFC"/>
                </a:solidFill>
              </a:defRPr>
            </a:pPr>
            <a:r>
              <a:t>2. INTEGRATE → Pipeline unification of multi-source datasets</a:t>
            </a:r>
          </a:p>
          <a:p/>
          <a:p>
            <a:pPr>
              <a:defRPr b="1" sz="1300">
                <a:solidFill>
                  <a:srgbClr val="F8FAFC"/>
                </a:solidFill>
              </a:defRPr>
            </a:pPr>
            <a:r>
              <a:t>3. MAP → GIS spatial potential &amp; risk visualization</a:t>
            </a:r>
          </a:p>
          <a:p/>
          <a:p>
            <a:pPr>
              <a:defRPr b="1" sz="1300">
                <a:solidFill>
                  <a:srgbClr val="F8FAFC"/>
                </a:solidFill>
              </a:defRPr>
            </a:pPr>
            <a:r>
              <a:t>4. ANALYZE → Time-series depletion &amp; quality trend evaluation</a:t>
            </a:r>
          </a:p>
          <a:p/>
          <a:p>
            <a:pPr>
              <a:defRPr b="1" sz="1300">
                <a:solidFill>
                  <a:srgbClr val="F8FAFC"/>
                </a:solidFill>
              </a:defRPr>
            </a:pPr>
            <a:r>
              <a:t>5. PREDICT → AI/ML predictive forecasting</a:t>
            </a:r>
          </a:p>
          <a:p/>
          <a:p>
            <a:pPr>
              <a:defRPr b="1" sz="1300">
                <a:solidFill>
                  <a:srgbClr val="F8FAFC"/>
                </a:solidFill>
              </a:defRPr>
            </a:pPr>
            <a:r>
              <a:t>6. DECIDE → Government decision-support dashboard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egoe UI"/>
              </a:defRPr>
            </a:pPr>
            <a:r>
              <a:t>05  // GROUNDWATER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SYSTEM ARCHITECTURE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End-to-end data pipeline from physical sensing to decision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685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0F0FF"/>
                </a:solidFill>
              </a:defRPr>
            </a:pPr>
            <a:r>
              <a:t>01 / PHYSICAL LAYER 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Raspberry Pi 3B+ | ESP32 | 6 Telemetry Sensors | Custom PCB | Physical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10698480" cy="685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284C7"/>
                </a:solidFill>
              </a:defRPr>
            </a:pPr>
            <a:r>
              <a:t>02 / GATEWAY &amp; API LAYER 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Data Acquisition Gateway | Hardware Data API | Validation &amp; Cleaning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10698480" cy="685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1012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03 / DATA BASE &amp; INTEGRATION 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Central Database | GIS Spatial Layer Index | Remote Sensing Ingestion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10698480" cy="685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87367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59E0B"/>
                </a:solidFill>
              </a:defRPr>
            </a:pPr>
            <a:r>
              <a:t>04 / ANALYTICS &amp; MAP ENGINE 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Spatial Potential Mapping | Recharge Calculation | Quality Risk Indexing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10698480" cy="685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6460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EF4444"/>
                </a:solidFill>
              </a:defRPr>
            </a:pPr>
            <a:r>
              <a:t>05 / PREDICTIVE INTELLIGENCE 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AI/ML Prediction Engine | Trend Analytics | Stress Forecasting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532120"/>
            <a:ext cx="10698480" cy="685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64184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06 / DECISION PLATFORM 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Web Frontend | GIS Dashboard | Government Decision Support &amp;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egoe UI"/>
              </a:defRPr>
            </a:pPr>
            <a:r>
              <a:t>06  // GROUNDWATER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FIELD DATA NODE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Physical prototype data-acquisition and edge gateway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HARDWARE CORE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100">
                <a:solidFill>
                  <a:srgbClr val="F8FAFC"/>
                </a:solidFill>
              </a:defRPr>
            </a:pPr>
            <a:r>
              <a:t>• Raspberry Pi 3B+: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Central edge gateway, local buffering &amp; API communication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ESP32 Microcontroller: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Low-latency ADC reading &amp; sensor sampling controller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Custom PCB &amp; Wiring: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Noise reduction, regulated power delivery &amp; connector bus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Pump + Tubing: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Controlled fluid circulation for dynamic sensor testing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Physical Groundwater Model: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Simulated aquifer column for continuous physical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EDGE GATEWAY ROLE IN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F0FF"/>
                </a:solidFill>
              </a:defRPr>
            </a:pPr>
            <a:r>
              <a:t>Physical Gateway vs Platform Positioning:</a:t>
            </a:r>
          </a:p>
          <a:p>
            <a:br/>
            <a:pPr>
              <a:defRPr b="1" sz="1200">
                <a:solidFill>
                  <a:srgbClr val="10B981"/>
                </a:solidFill>
              </a:defRPr>
            </a:pPr>
            <a:r>
              <a:t>✓ Data Ground-Truth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Provides real-world empirical validation for spatial models.</a:t>
            </a:r>
          </a:p>
          <a:p>
            <a:br/>
            <a:pPr>
              <a:defRPr b="1" sz="1200">
                <a:solidFill>
                  <a:srgbClr val="10B981"/>
                </a:solidFill>
              </a:defRPr>
            </a:pPr>
            <a:r>
              <a:t>✓ Edge Data Acquisition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Continuous, autonomous sampling of water depth &amp; quality parameters.</a:t>
            </a:r>
          </a:p>
          <a:p>
            <a:br/>
            <a:pPr>
              <a:defRPr b="1" sz="1200">
                <a:solidFill>
                  <a:srgbClr val="10B981"/>
                </a:solidFill>
              </a:defRPr>
            </a:pPr>
            <a:r>
              <a:t>✓ Non-Exclusive Role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The hardware node is an essential data source, but the software intelligence platform is the primary project engine.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egoe UI"/>
              </a:defRPr>
            </a:pPr>
            <a:r>
              <a:t>07  // GROUNDWATER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SENSOR INSTRUMENTATION &amp; TELEMETRY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Key physical parameters collected by the edge sensor payload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GROUNDWATER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8FAFC"/>
                </a:solidFill>
              </a:defRPr>
            </a:pPr>
            <a:r>
              <a:t>Ultrasonic / Pressure depth sensor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Tracks real-time water table height &amp; drawdown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PH SENSOR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488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8FAFC"/>
                </a:solidFill>
              </a:defRPr>
            </a:pPr>
            <a:r>
              <a:t>Electrochemical electrode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Monitors acidity/alkalinity for water safety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ELECTRICAL CONDUCTIVITY (EC)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1488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8FAFC"/>
                </a:solidFill>
              </a:defRPr>
            </a:pPr>
            <a:r>
              <a:t>Conductivity probe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Detects total dissolved solids &amp; salinization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69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TURBIDITY SENSOR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348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8FAFC"/>
                </a:solidFill>
              </a:defRPr>
            </a:pPr>
            <a:r>
              <a:t>Optical scattering probe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Measures suspended solids &amp; sedimentation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069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TEMPERATURE SENSOR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4348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8FAFC"/>
                </a:solidFill>
              </a:defRPr>
            </a:pPr>
            <a:r>
              <a:t>Digital thermal probe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Measures water/ambient thermal variations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069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SOIL-MOISTURE SENSOR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44348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8FAFC"/>
                </a:solidFill>
              </a:defRPr>
            </a:pPr>
            <a:r>
              <a:t>Capacitive moisture probe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Evaluates surface infiltration readiness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egoe UI"/>
              </a:defRPr>
            </a:pPr>
            <a:r>
              <a:t>08  // GROUNDWATER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GIS INTERACTIVE MAP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Spatial intelligence layer providing multi-resolution geographic visualization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SPATIAL MAPPING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100">
                <a:solidFill>
                  <a:srgbClr val="00F0FF"/>
                </a:solidFill>
              </a:defRPr>
            </a:pPr>
            <a:r>
              <a:t>• Multi-Layer Geospatial Overlay: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Integrate sensor nodes, administrative boundaries, terrain contours, and watershed basins.</a:t>
            </a:r>
            <a:br/>
          </a:p>
          <a:p>
            <a:pPr>
              <a:defRPr b="1" sz="1100">
                <a:solidFill>
                  <a:srgbClr val="00F0FF"/>
                </a:solidFill>
              </a:defRPr>
            </a:pPr>
            <a:r>
              <a:t>• Interactive Coordinate Querying: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Clickable spatial nodes displaying live telemetry, depth history, and risk scores.</a:t>
            </a:r>
            <a:br/>
          </a:p>
          <a:p>
            <a:pPr>
              <a:defRPr b="1" sz="1100">
                <a:solidFill>
                  <a:srgbClr val="00F0FF"/>
                </a:solidFill>
              </a:defRPr>
            </a:pPr>
            <a:r>
              <a:t>• Raster &amp; Vector Processing: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Smooth rendering of satellite rasters alongside point sensor locations.</a:t>
            </a:r>
            <a:br/>
          </a:p>
          <a:p>
            <a:pPr>
              <a:defRPr b="1" sz="1100">
                <a:solidFill>
                  <a:srgbClr val="00F0FF"/>
                </a:solidFill>
              </a:defRPr>
            </a:pPr>
            <a:r>
              <a:t>• Dynamic Heatmap Rendering: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Interpolate spatial data across unmonitored zones to estimate groundwater potential.</a:t>
            </a:r>
            <a:br/>
          </a:p>
        </p:txBody>
      </p:sp>
      <p:pic>
        <p:nvPicPr>
          <p:cNvPr id="8" name="Picture 7" descr="satellite_gis_grid_17869084279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49377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egoe UI"/>
              </a:defRPr>
            </a:pPr>
            <a:r>
              <a:t>09  // GROUNDWATER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REMOTE SENSING &amp; ENVIRONMENTAL FUSION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Expanding coverage beyond point-sensor locations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01 / SATELLITE IMAGERY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Multi-spectral optical &amp; radar observation for vegetation index (NDVI) &amp; surface moisture.</a:t>
            </a:r>
          </a:p>
          <a:p>
            <a:br/>
            <a:br/>
            <a:pPr>
              <a:defRPr b="1" sz="1100">
                <a:solidFill>
                  <a:srgbClr val="00F0FF"/>
                </a:solidFill>
              </a:defRPr>
            </a:pPr>
            <a:r>
              <a:t>Key Benefit: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Fills spatial gaps between physical monitoring wells without requiring thousands of physical sensors.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02 / ENVIRONMENTAL DATASETS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Integration of precipitation, temperature, evapotranspiration, and humidity logs.</a:t>
            </a:r>
          </a:p>
          <a:p>
            <a:br/>
            <a:br/>
            <a:pPr>
              <a:defRPr b="1" sz="1100">
                <a:solidFill>
                  <a:srgbClr val="10B981"/>
                </a:solidFill>
              </a:defRPr>
            </a:pPr>
            <a:r>
              <a:t>Key Benefit: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Fills spatial gaps between physical monitoring wells without requiring thousands of physical sensors.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03 / MACRO SPATIAL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Connecting localized well sensors to regional aquifer-scale dynamics.</a:t>
            </a:r>
          </a:p>
          <a:p>
            <a:br/>
            <a:br/>
            <a:pPr>
              <a:defRPr b="1" sz="1100">
                <a:solidFill>
                  <a:srgbClr val="F59E0B"/>
                </a:solidFill>
              </a:defRPr>
            </a:pPr>
            <a:r>
              <a:t>Key Benefit: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Fills spatial gaps between physical monitoring wells without requiring thousands of physical sensors.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egoe UI"/>
              </a:defRPr>
            </a:pPr>
            <a:r>
              <a:t>10  // GROUNDWATER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GROUNDWATER POTENTIAL MAPPING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Multi-criteria spatial assessment for groundwater availability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MULTI-LAYER OVERLAY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8FAFC"/>
                </a:solidFill>
              </a:defRPr>
            </a:pPr>
            <a:r>
              <a:t>Groundwater Potential Assessment Framework (Illustrative Model)</a:t>
            </a:r>
          </a:p>
          <a:p>
            <a:br/>
            <a:pPr>
              <a:defRPr sz="1200">
                <a:solidFill>
                  <a:srgbClr val="00F0FF"/>
                </a:solidFill>
              </a:defRPr>
            </a:pPr>
            <a:r>
              <a:t>Inputs: Rainfall + Soil Type + Topography/Slope + Land Cover + Drainage Density + Sensor Ground Truth</a:t>
            </a:r>
            <a:br/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Topography &amp; Slope: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Flatter terrain promotes water ponding and infiltration over rapid runoff.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Soil Permeability: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Sandy &amp; porous soils enable higher percolation rates than dense clay.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Drainage Density: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Lower stream density indicates higher subsurface absorption capacity.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Land Cover &amp; NDVI: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Dense vegetation enhances root-zone soil porosity and reduces direct evaporation.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egoe UI"/>
              </a:defRPr>
            </a:pPr>
            <a:r>
              <a:t>11  // GROUNDWATER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RECHARGE-POTENTIAL MAPPING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Identifying optimal zones for artificial &amp; natural groundwater recharge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INFILTRATION &amp; RECHARGE FACTORS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FAFC"/>
                </a:solidFill>
              </a:defRPr>
            </a:pPr>
            <a:r>
              <a:t>Spatial Recharge Factors: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Precipitation Intensity &amp; Duration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Soil Hydraulic Conductivity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Geological Lithology &amp; Subsurface Permeability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Surface Slope &amp; Runoff Velocity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Soil Moisture Saturation Levels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DECISION SUPPORT 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FAFC"/>
                </a:solidFill>
              </a:defRPr>
            </a:pPr>
            <a:r>
              <a:t>Actionable Interventions:</a:t>
            </a:r>
          </a:p>
          <a:p>
            <a:pPr>
              <a:defRPr b="1" sz="1100">
                <a:solidFill>
                  <a:srgbClr val="10B981"/>
                </a:solidFill>
              </a:defRPr>
            </a:pPr>
            <a:r>
              <a:t>✓ Check Dam Site Selection: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Identify high-percolation zones for check dams.</a:t>
            </a:r>
          </a:p>
          <a:p>
            <a:pPr>
              <a:defRPr b="1" sz="1100">
                <a:solidFill>
                  <a:srgbClr val="10B981"/>
                </a:solidFill>
              </a:defRPr>
            </a:pPr>
            <a:r>
              <a:t>✓ Recharge Shaft Placement: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Locate optimal sites for rainwater injection shafts.</a:t>
            </a:r>
          </a:p>
          <a:p>
            <a:pPr>
              <a:defRPr b="1" sz="1100">
                <a:solidFill>
                  <a:srgbClr val="10B981"/>
                </a:solidFill>
              </a:defRPr>
            </a:pPr>
            <a:r>
              <a:t>✓ Rainwater Harvesting Strategy: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Guide municipal rainwater collection mandates.</a:t>
            </a:r>
          </a:p>
          <a:p>
            <a:pPr>
              <a:defRPr b="1" sz="1100">
                <a:solidFill>
                  <a:srgbClr val="10B981"/>
                </a:solidFill>
              </a:defRPr>
            </a:pPr>
            <a:r>
              <a:t>✓ Conservation Zoning: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Designate protected high-recharge watershed basins.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egoe UI"/>
              </a:defRPr>
            </a:pPr>
            <a:r>
              <a:t>12  // GROUNDWATER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WATER-QUALITY RISK MAPPING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Transforming point sensor measurements into spatial risk maps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926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PH SPATIAL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Acidity &amp; Alkalinity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Maps agricultural runoff, chemical leaching &amp; industrial contamination zones.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2926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EC RISK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Electrical Conductivity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Tracks salinization, mineral concentration &amp; coastal saltwater intrusion.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2926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TURBIDITY RISK INDEX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Suspended Sediment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Identifies wellhead structural damage, sediment ingress &amp; filtration failure.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1069848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INTEGRATED WATER-QUALITY RISK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749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Spatial interpolation combines pH, EC, and Turbidity into a unified Risk Index (Safe / Moderate / Critical Zone) to alert authorities prior to public water supply contamination.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egoe UI"/>
              </a:defRPr>
            </a:pPr>
            <a:r>
              <a:t>13  // GROUNDWATER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HISTORICAL TREND ANALYSIS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Time-series visualization of water table depth and environmental factors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TEMPORAL PATTERN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8FAFC"/>
                </a:solidFill>
              </a:defRPr>
            </a:pPr>
            <a:r>
              <a:t>Key Analytical Dimensions:</a:t>
            </a:r>
          </a:p>
          <a:p>
            <a:br/>
            <a:pPr>
              <a:defRPr b="1" sz="1200">
                <a:solidFill>
                  <a:srgbClr val="00F0FF"/>
                </a:solidFill>
              </a:defRPr>
            </a:pPr>
            <a:r>
              <a:t>• Seasonal Water-Table Fluctuations: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Comparing monsoon recharge peaks against summer drawdown troughs.</a:t>
            </a:r>
          </a:p>
          <a:p>
            <a:br/>
            <a:pPr>
              <a:defRPr b="1" sz="1200">
                <a:solidFill>
                  <a:srgbClr val="00F0FF"/>
                </a:solidFill>
              </a:defRPr>
            </a:pPr>
            <a:r>
              <a:t>• Multi-Year Depletion Trajectories: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Identifying long-term negative baseline drift across consecutive years.</a:t>
            </a:r>
          </a:p>
          <a:p>
            <a:br/>
            <a:pPr>
              <a:defRPr b="1" sz="1200">
                <a:solidFill>
                  <a:srgbClr val="00F0FF"/>
                </a:solidFill>
              </a:defRPr>
            </a:pPr>
            <a:r>
              <a:t>• Rainfall-Recharge Lag Analysis: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Quantifying the precise response time between rainfall events and water table rise.</a:t>
            </a:r>
          </a:p>
          <a:p>
            <a:br/>
            <a:pPr>
              <a:defRPr b="1" sz="1200">
                <a:solidFill>
                  <a:srgbClr val="00F0FF"/>
                </a:solidFill>
              </a:defRPr>
            </a:pPr>
            <a:r>
              <a:t>• Anomalous Event Detection: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Flagging sudden unseasonal drops caused by illegal over-pumping or sensor fault.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egoe UI"/>
              </a:defRPr>
            </a:pPr>
            <a:r>
              <a:t>14  // GROUNDWATER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GROUNDWATER DEPLETION &amp; STRESS ZONES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Identifying critical zones approaching threshold depletion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STRESS CLASSIFICATION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100">
                <a:solidFill>
                  <a:srgbClr val="10B981"/>
                </a:solidFill>
              </a:defRPr>
            </a:pPr>
            <a:r>
              <a:t>■ Safe Zone: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Stable water table, positive annual recharge balance.</a:t>
            </a:r>
            <a:br/>
          </a:p>
          <a:p>
            <a:pPr>
              <a:defRPr b="1" sz="1100">
                <a:solidFill>
                  <a:srgbClr val="F59E0B"/>
                </a:solidFill>
              </a:defRPr>
            </a:pPr>
            <a:r>
              <a:t>■ Semi-Critical Zone: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Minor drawdown trend, extraction equals natural recharge.</a:t>
            </a:r>
            <a:br/>
          </a:p>
          <a:p>
            <a:pPr>
              <a:defRPr b="1" sz="1100">
                <a:solidFill>
                  <a:srgbClr val="EF4444"/>
                </a:solidFill>
              </a:defRPr>
            </a:pPr>
            <a:r>
              <a:t>■ Critical Stress Zone: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Severe persistent drawdown, extraction exceeds recharge by &gt;20%.</a:t>
            </a:r>
            <a:br/>
          </a:p>
          <a:p>
            <a:pPr>
              <a:defRPr b="1" sz="1100">
                <a:solidFill>
                  <a:srgbClr val="EF4444"/>
                </a:solidFill>
              </a:defRPr>
            </a:pPr>
            <a:r>
              <a:t>■ Over-Exploited Zone: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Irreversible storage decline, risk of well failure &amp; land subsidence.</a:t>
            </a:r>
            <a:br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EARLY WARNING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100">
                <a:solidFill>
                  <a:srgbClr val="F8FAFC"/>
                </a:solidFill>
              </a:defRPr>
            </a:pPr>
            <a:r>
              <a:t>⚠ Rate of Drawdown (m/year):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Accelerating annual depletion rate.</a:t>
            </a:r>
            <a:br/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⚠ Recharge Deficit Score: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Percentage of unreplenished extracted volume.</a:t>
            </a:r>
            <a:br/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⚠ Water Quality Degradation Rate: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Simultaneous rise in EC/salinity alongside depth drop.</a:t>
            </a:r>
            <a:br/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⚠ Proximity to Critical Infrastructure: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Threat level to municipal supply wells.</a:t>
            </a:r>
            <a:b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egoe UI"/>
              </a:defRPr>
            </a:pPr>
            <a:r>
              <a:t>15  // GROUNDWATER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AI / ML PREDICTION ENGINE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Predictive Intelligence Layer for groundwater forecasting (Algorithm Agnostic)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914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PREDICTIVE INTELLIGENCE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Modular AI/ML engine designed to evaluate temporal patterns and environmental features. Model selection (e.g., ensemble, neural, or time-series regression) will be finalized based on dataset resolution and validation performance.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5120640" cy="3383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FEATURE PIPELINE 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→ Historical Water Level Time Series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→ Precipitation &amp; Evapotranspiration Rates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→ Soil Moisture &amp; Satellite NDVI Rasters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→ Geological Lithology &amp; Infiltration Rates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→ Live Edge Sensor Telemetry Feeds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743200"/>
            <a:ext cx="5212080" cy="3383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880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PREDICTIVE 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004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F8FAFC"/>
                </a:solidFill>
              </a:defRPr>
            </a:pPr>
            <a:r>
              <a:t>★ 30 / 60 / 90-Day Water Level Forecasts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★ Depletion Risk Probability Distribution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★ Recharge Deficit Predictions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★ Water Quality Risk Trend Horizon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★ Uncertainty Bounds &amp; Confidence Intervals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egoe UI"/>
              </a:defRPr>
            </a:pPr>
            <a:r>
              <a:t>16  // GROUNDWATER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FUTURE GROUNDWATER-STRESS PREDICTION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Scenario-based forecasting for climate variability and extraction demand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BASELINE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Normal Rainfall &amp; Current Extraction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Projects baseline water table behavior under standard seasonal precipitation.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MONSOON DEFICIT 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Below-Average Rainfall (-30%)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Forecasts severe drawdown speed during drought years to prepare buffer storage.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HIGH EXTRACTION DEMAND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Agricultural/Urban Expansion (+25%)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Simulates aquifer stress under accelerated pumping schedules.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egoe UI"/>
              </a:defRPr>
            </a:pPr>
            <a:r>
              <a:t>17  // GROUNDWATER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DECISION-SUPPORT DASHBOARD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Turning complex spatial data and predictions into government policy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01 / GROUNDWATER STATUS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Regional water table health, active well count, live telemetry feeds.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02 / RECHARGE PRIORITY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488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Geospatial highlighting of top-priority zones for check dams &amp; artificial recharge.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03 / CONTAMINATION RISK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Automated warnings for regions exceeding safe pH, EC, or turbidity thresholds.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4069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04 / DEPLETION TREND FORECASTING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4348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Interactive slider to visualize projected groundwater stress over 1–5 years.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egoe UI"/>
              </a:defRPr>
            </a:pPr>
            <a:r>
              <a:t>18  // GROUNDWATER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COMPLETE DIGITAL PLATFORM MODULES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Unified web application architecture for multi-stakeholder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MODULE 01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Overview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MODULE 02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Interactive GIS 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MODULE 03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Live Sensor Telemetry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3383280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375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MODULE 04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Groundwater Potential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154680"/>
            <a:ext cx="3383280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3375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MODULE 05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Water Quality Index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154680"/>
            <a:ext cx="3383280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3375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MODULE 06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Recharge Mapping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63440"/>
            <a:ext cx="3383280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46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MODULE 07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Historical Trends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663440"/>
            <a:ext cx="3383280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4846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MODULE 08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AI Stress Predictions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663440"/>
            <a:ext cx="3383280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846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MODULE 09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Government Reports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egoe UI"/>
              </a:defRPr>
            </a:pPr>
            <a:r>
              <a:t>19  // GROUNDWATER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TECHNOLOGY &amp; AI STACK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End-to-end technology stack powering hardware, analytics, and visual narrative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0F0FF"/>
                </a:solidFill>
              </a:defRPr>
            </a:pPr>
            <a:r>
              <a:t>HARDWARE LAYER: 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Raspberry Pi 3B+, ESP32, 6 Physical Sensors, Custom PCB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BACKEND &amp; DATABASE: 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Python Server, Relational/Spatial Database, REST Hardware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284C7"/>
                </a:solidFill>
              </a:defRPr>
            </a:pPr>
            <a:r>
              <a:t>GIS &amp; REMOTE SENSING: 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Geospatial Engine, Raster Processing, Vector Layer Indexing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59E0B"/>
                </a:solidFill>
              </a:defRPr>
            </a:pPr>
            <a:r>
              <a:t>AI / ML ENGINE: 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Predictive Intelligence Layer, Feature Pipeline, Time-Series Modeling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EF4444"/>
                </a:solidFill>
              </a:defRPr>
            </a:pPr>
            <a:r>
              <a:t>NVIDIA AI STACK: 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NVIDIA Nemotron-3-Ultra-550B-A55B (Reasoning) | FLUX.1-dev (Visuals)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egoe UI"/>
              </a:defRPr>
            </a:pPr>
            <a:r>
              <a:t>20  // GROUNDWATER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FUTURE SCOPE &amp; ROADMAP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From physical prototype to regional groundwater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234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Phase 1: Prototype Node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Single physical IoT node &amp; core web dashboard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1234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Phase 2: Field Sensor Net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Deploy multi-node sensor array across target watershed.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5120640" cy="1234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Phase 3: Multi-Location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Scale edge hardware gateways across diverse hydrogeological zones.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108960"/>
            <a:ext cx="5120640" cy="1234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2461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Phase 4: Remote Sensing Fusion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Automate high-resolution satellite raster ingestion.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5120640" cy="1234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7091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Phase 5: AI Prediction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Train &amp; validate predictive models on multi-year temporal dataset.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572000"/>
            <a:ext cx="5120640" cy="1234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7091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Phase 6: Regional Intelligence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Full government decision-support deployment for basin management.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698480" cy="1005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CLOSING STATEMENT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235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0FF"/>
                </a:solidFill>
              </a:defRPr>
            </a:pPr>
            <a:r>
              <a:t>"FROM DATA TO GROUNDWATER INTELLIGENCE."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